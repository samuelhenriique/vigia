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913beb364042a4" /><Relationship Type="http://schemas.openxmlformats.org/officeDocument/2006/relationships/extended-properties" Target="/docProps/app.xml" Id="Raa9b6a78fa764d73" /><Relationship Type="http://schemas.openxmlformats.org/officeDocument/2006/relationships/officeDocument" Target="/ppt/presentation.xml" Id="Re3f745096d4647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a97105fc014825"/>
  </p:sldMasterIdLst>
  <p:notesMasterIdLst>
    <p:notesMasterId xmlns:r="http://schemas.openxmlformats.org/officeDocument/2006/relationships" r:id="R23342b4da0754ec8"/>
  </p:notesMasterIdLst>
  <p:sldIdLst>
    <p:sldId xmlns:r="http://schemas.openxmlformats.org/officeDocument/2006/relationships" id="256" r:id="Rcd91c86e33f64b86"/>
    <p:sldId xmlns:r="http://schemas.openxmlformats.org/officeDocument/2006/relationships" id="257" r:id="R75eb334056cb49ba"/>
    <p:sldId xmlns:r="http://schemas.openxmlformats.org/officeDocument/2006/relationships" id="258" r:id="R707f43af619e4877"/>
    <p:sldId xmlns:r="http://schemas.openxmlformats.org/officeDocument/2006/relationships" id="259" r:id="R8640bb79158c4069"/>
    <p:sldId xmlns:r="http://schemas.openxmlformats.org/officeDocument/2006/relationships" id="260" r:id="R817b8e7bfb4d4a85"/>
    <p:sldId xmlns:r="http://schemas.openxmlformats.org/officeDocument/2006/relationships" id="261" r:id="R3f1970d62b2b4fdd"/>
    <p:sldId xmlns:r="http://schemas.openxmlformats.org/officeDocument/2006/relationships" id="262" r:id="R9680f475215244a3"/>
    <p:sldId xmlns:r="http://schemas.openxmlformats.org/officeDocument/2006/relationships" id="263" r:id="R5e76dc039a1e4b95"/>
    <p:sldId xmlns:r="http://schemas.openxmlformats.org/officeDocument/2006/relationships" id="264" r:id="Rba8eb67be91447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ea69ff030442ba" /><Relationship Type="http://schemas.openxmlformats.org/officeDocument/2006/relationships/slideMaster" Target="/ppt/slideMasters/slideMaster1.xml" Id="Re3a97105fc014825" /><Relationship Type="http://schemas.openxmlformats.org/officeDocument/2006/relationships/notesMaster" Target="/ppt/notesMasters/notesMaster1.xml" Id="R23342b4da0754ec8" /><Relationship Type="http://schemas.openxmlformats.org/officeDocument/2006/relationships/presProps" Target="/ppt/presProps.xml" Id="R0a68264dfa404fb4" /><Relationship Type="http://schemas.openxmlformats.org/officeDocument/2006/relationships/tableStyles" Target="/ppt/tableStyles.xml" Id="R340f881e1f4249ef" /><Relationship Type="http://schemas.openxmlformats.org/officeDocument/2006/relationships/slide" Target="/ppt/slides/slide1.xml" Id="Rcd91c86e33f64b86" /><Relationship Type="http://schemas.openxmlformats.org/officeDocument/2006/relationships/slide" Target="/ppt/slides/slide2.xml" Id="R75eb334056cb49ba" /><Relationship Type="http://schemas.openxmlformats.org/officeDocument/2006/relationships/slide" Target="/ppt/slides/slide3.xml" Id="R707f43af619e4877" /><Relationship Type="http://schemas.openxmlformats.org/officeDocument/2006/relationships/slide" Target="/ppt/slides/slide4.xml" Id="R8640bb79158c4069" /><Relationship Type="http://schemas.openxmlformats.org/officeDocument/2006/relationships/slide" Target="/ppt/slides/slide5.xml" Id="R817b8e7bfb4d4a85" /><Relationship Type="http://schemas.openxmlformats.org/officeDocument/2006/relationships/slide" Target="/ppt/slides/slide6.xml" Id="R3f1970d62b2b4fdd" /><Relationship Type="http://schemas.openxmlformats.org/officeDocument/2006/relationships/slide" Target="/ppt/slides/slide7.xml" Id="R9680f475215244a3" /><Relationship Type="http://schemas.openxmlformats.org/officeDocument/2006/relationships/slide" Target="/ppt/slides/slide8.xml" Id="R5e76dc039a1e4b95" /><Relationship Type="http://schemas.openxmlformats.org/officeDocument/2006/relationships/slide" Target="/ppt/slides/slide9.xml" Id="Rba8eb67be91447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425620733b48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6cd02bae5c4fca" /><Relationship Type="http://schemas.openxmlformats.org/officeDocument/2006/relationships/notesMaster" Target="/ppt/notesMasters/notesMaster1.xml" Id="R227f27828b1647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30a5c5915049d9" /><Relationship Type="http://schemas.openxmlformats.org/officeDocument/2006/relationships/notesMaster" Target="/ppt/notesMasters/notesMaster1.xml" Id="R2a5be584c02044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66cab359e14bc3" /><Relationship Type="http://schemas.openxmlformats.org/officeDocument/2006/relationships/notesMaster" Target="/ppt/notesMasters/notesMaster1.xml" Id="R13b54409e68642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663ac3c31840bf" /><Relationship Type="http://schemas.openxmlformats.org/officeDocument/2006/relationships/notesMaster" Target="/ppt/notesMasters/notesMaster1.xml" Id="Rbe822e7c60354d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a45ba30b654a88" /><Relationship Type="http://schemas.openxmlformats.org/officeDocument/2006/relationships/notesMaster" Target="/ppt/notesMasters/notesMaster1.xml" Id="Rdd8283842b8340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e924508fb047a8" /><Relationship Type="http://schemas.openxmlformats.org/officeDocument/2006/relationships/notesMaster" Target="/ppt/notesMasters/notesMaster1.xml" Id="Ra7c43caf3d0f4a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eafe4ca8c2482d" /><Relationship Type="http://schemas.openxmlformats.org/officeDocument/2006/relationships/notesMaster" Target="/ppt/notesMasters/notesMaster1.xml" Id="R6213914715aa49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c8995be3f64aad" /><Relationship Type="http://schemas.openxmlformats.org/officeDocument/2006/relationships/notesMaster" Target="/ppt/notesMasters/notesMaster1.xml" Id="R124c17fb03d049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8b7d8e45734561" /><Relationship Type="http://schemas.openxmlformats.org/officeDocument/2006/relationships/notesMaster" Target="/ppt/notesMasters/notesMaster1.xml" Id="R8a782bb659e142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Apresente-se e diga que o VigIA é um MVP acadêmico voltado ao apoio operacional. Abra com uma frase curta: 'A informação certa, no tempo certo, ajuda a priorizar melhor uma ocorrência.'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docs/sprint-07/fechamento-apresentacao.md</a:t>
            </a:r>
          </a:p>
          <a:p xmlns:a="http://schemas.openxmlformats.org/drawingml/2006/main">
            <a:r>
              <a:t>- docs/sprint-07/roteiro-apresentacao.md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o problema não é apenas cadastrar ocorrências. O desafio é reunir as informações e oferecer uma leitura operacional simples para que a equipe consiga agir com mais contexto.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docs/sprint-07/canvas.md</a:t>
            </a:r>
          </a:p>
          <a:p xmlns:a="http://schemas.openxmlformats.org/drawingml/2006/main">
            <a:r>
              <a:t>- docs/sprint-07/fechamento-apresentacao.md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fluxo em quatro verbos. Dê destaque à segunda etapa: a IA apresenta uma sugestão explicável, mas o operador continua responsável pela decisão.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docs/sprint-07/fechamento-apresentacao.md</a:t>
            </a:r>
          </a:p>
          <a:p xmlns:a="http://schemas.openxmlformats.org/drawingml/2006/main">
            <a:r>
              <a:t>- docs/sprint-07/limitacoes-mvp.md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 caminho da informação: React envia as requisições para a API Laravel; a API protege e organiza o fluxo; PostgreSQL/PostGIS mantém os dados; o FastAPI calcula a sugestão de prioridade.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frontend/src/App.jsx</a:t>
            </a:r>
          </a:p>
          <a:p xmlns:a="http://schemas.openxmlformats.org/drawingml/2006/main">
            <a:r>
              <a:t>- frontend/src/api/client.js</a:t>
            </a:r>
          </a:p>
          <a:p xmlns:a="http://schemas.openxmlformats.org/drawingml/2006/main">
            <a:r>
              <a:t>- backend/routes/api.php</a:t>
            </a:r>
          </a:p>
          <a:p xmlns:a="http://schemas.openxmlformats.org/drawingml/2006/main">
            <a:r>
              <a:t>- ai-service/app/main.py</a:t>
            </a:r>
          </a:p>
          <a:p xmlns:a="http://schemas.openxmlformats.org/drawingml/2006/main">
            <a:r>
              <a:t>- database/schema.sql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o dashboard e cite os dados simulados do ambiente: 11 ocorrências, 6 viaturas e 3 alertas. Explique que os gráficos ajudam a comparar prioridade, status, tipo, região e severidade.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.codex-week7/screens/dashboard-top.png</a:t>
            </a:r>
          </a:p>
          <a:p xmlns:a="http://schemas.openxmlformats.org/drawingml/2006/main">
            <a:r>
              <a:t>- frontend/src/pages/Dashboard.jsx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uma ocorrência crítica e mostre a prioridade sugerida, a pontuação de risco, a confiança e a explicação. Reforce que esses valores apoiam a triagem e ficam registrados no histórico.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.codex-week7/screens/ocorrencias-final.png</a:t>
            </a:r>
          </a:p>
          <a:p xmlns:a="http://schemas.openxmlformats.org/drawingml/2006/main">
            <a:r>
              <a:t>- .codex-week7/screens/ia-final.png</a:t>
            </a:r>
          </a:p>
          <a:p xmlns:a="http://schemas.openxmlformats.org/drawingml/2006/main">
            <a:r>
              <a:t>- ai-service/app/services/priority_predictor.py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mapa, mostre as ocorrências, as viaturas e as áreas de risco. Depois abra Alertas e explique os três tipos exibidos no MVP: padrão semelhante, prioridade crítica e área de risco.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.codex-week7/screens/mapa-final.png</a:t>
            </a:r>
          </a:p>
          <a:p xmlns:a="http://schemas.openxmlformats.org/drawingml/2006/main">
            <a:r>
              <a:t>- .codex-week7/screens/alertas-final.png</a:t>
            </a:r>
          </a:p>
          <a:p xmlns:a="http://schemas.openxmlformats.org/drawingml/2006/main">
            <a:r>
              <a:t>- frontend/src/pages/Mapa.jsx</a:t>
            </a:r>
          </a:p>
          <a:p xmlns:a="http://schemas.openxmlformats.org/drawingml/2006/main">
            <a:r>
              <a:t>- frontend/src/pages/Alertas.jsx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Kanban para mostrar o encerramento. O sistema e os testes principais estão concluídos. O que falta é a parte acadêmica de entrega: revisar, gravar o vídeo e publicar o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docs/sprint-07/checklist-demonstracao.md</a:t>
            </a:r>
          </a:p>
          <a:p xmlns:a="http://schemas.openxmlformats.org/drawingml/2006/main">
            <a:r>
              <a:t>- docs/sprint-07/fechamento-apresentacao.md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Conclua dizendo que o objetivo da etapa foi alcançado: existe um MVP integrado e demonstrável. Reconheça que ele ainda usa dados simulados e requer evolução técnica e validação antes de qualquer uso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docs/sprint-07/limitacoes-mvp.md</a:t>
            </a:r>
          </a:p>
          <a:p xmlns:a="http://schemas.openxmlformats.org/drawingml/2006/main">
            <a:r>
              <a:t>- docs/sprint-07/fechamento-apresentacao.md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ea3a925704a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c582618a744658" /><Relationship Type="http://schemas.openxmlformats.org/officeDocument/2006/relationships/slideLayout" Target="/ppt/slideLayouts/slideLayout1.xml" Id="R6be1468acdf147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e1468acdf147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afe7069834851" /><Relationship Type="http://schemas.openxmlformats.org/officeDocument/2006/relationships/notesSlide" Target="/ppt/notesSlides/notesSlide1.xml" Id="Rc31b76e2072543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547e335f9486a" /><Relationship Type="http://schemas.openxmlformats.org/officeDocument/2006/relationships/notesSlide" Target="/ppt/notesSlides/notesSlide2.xml" Id="Re376ceca21e644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f5543e662414f" /><Relationship Type="http://schemas.openxmlformats.org/officeDocument/2006/relationships/notesSlide" Target="/ppt/notesSlides/notesSlide3.xml" Id="R5809bdb0ae654a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4bf986ab0412e" /><Relationship Type="http://schemas.openxmlformats.org/officeDocument/2006/relationships/notesSlide" Target="/ppt/notesSlides/notesSlide4.xml" Id="Rae19eca0b48649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b311777f444b0" /><Relationship Type="http://schemas.openxmlformats.org/officeDocument/2006/relationships/image" Target="/ppt/media/image.jpeg" Id="R51fc98b362fb49c9" /><Relationship Type="http://schemas.openxmlformats.org/officeDocument/2006/relationships/notesSlide" Target="/ppt/notesSlides/notesSlide5.xml" Id="R549a570ced3f4a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ba14902144e13" /><Relationship Type="http://schemas.openxmlformats.org/officeDocument/2006/relationships/image" Target="/ppt/media/image2.jpeg" Id="Rdfbf585bae7d4cf4" /><Relationship Type="http://schemas.openxmlformats.org/officeDocument/2006/relationships/image" Target="/ppt/media/image3.jpeg" Id="Ra576732656e74688" /><Relationship Type="http://schemas.openxmlformats.org/officeDocument/2006/relationships/notesSlide" Target="/ppt/notesSlides/notesSlide6.xml" Id="R7712d3176abf43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ea2a13bc54d93" /><Relationship Type="http://schemas.openxmlformats.org/officeDocument/2006/relationships/image" Target="/ppt/media/image4.jpeg" Id="R758385cdb0c44d99" /><Relationship Type="http://schemas.openxmlformats.org/officeDocument/2006/relationships/image" Target="/ppt/media/image5.jpeg" Id="Rbe3af2c4a678400c" /><Relationship Type="http://schemas.openxmlformats.org/officeDocument/2006/relationships/notesSlide" Target="/ppt/notesSlides/notesSlide7.xml" Id="Rb27ec34f8a0d45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e43b48ae54c61" /><Relationship Type="http://schemas.openxmlformats.org/officeDocument/2006/relationships/notesSlide" Target="/ppt/notesSlides/notesSlide8.xml" Id="R41814621f20b41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e3b5036c14a28" /><Relationship Type="http://schemas.openxmlformats.org/officeDocument/2006/relationships/notesSlide" Target="/ppt/notesSlides/notesSlide9.xml" Id="R0078bbb0194d4d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F857A-3F79-486D-B5D8-4E7C0283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8402B-17C4-45B3-8A09-EC4AA755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39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PROJETO INTEGRADOR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84B3B-3F3C-491A-A4E0-F7501049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685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VigIA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456D8-59F2-40C8-9044-32551EA1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Inteligência aplicada ao apoio operacional e à gestão de ocorrências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450E2-9EC9-47BF-8EFC-65FB9015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6670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72554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A21AF-ED27-4406-AE46-30F97BF4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375"/>
          </a:bodyPr>
          <a:lstStyle xmlns:a="http://schemas.openxmlformats.org/drawingml/2006/main"/>
          <a:p xmlns:a="http://schemas.openxmlformats.org/drawingml/2006/main">
            <a:pPr algn="ctr">
              <a:defRPr sz="6000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6000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6252F-DE34-4C94-B82E-FF6739D7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908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dados - mapa - decisão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72794-F315-4BF7-AD12-775BB3FE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Samuel Henrique Wenceslau  |  Entrega da Semana 7</a:t>
            </a:r>
          </a:p>
        </p:txBody>
      </p:sp>
    </p:spTree>
    <p:extLst>
      <p:ext uri="{BB962C8B-B14F-4D97-AF65-F5344CB8AC3E}">
        <p14:creationId xmlns:p14="http://schemas.microsoft.com/office/powerpoint/2010/main" val="10717428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0C775D-D601-4BC4-A651-DEA8E6E0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2372D-A7EE-4A1C-818B-41CD58D3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 desafio é transformar dados dispersos em decisão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64AA8-252D-4834-B42D-5322E519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276600" cy="34099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28F7D-7DA7-46D9-8597-F6E920EB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5AFCD-1BC6-4FD4-A1DB-52F0C835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Dados separados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8B08E-15E2-4B5F-8629-C31B0A7C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2743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Ocorrências, viaturas e alertas precisam ser consultados no mesmo fluxo.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5BB6E-B6CA-48F0-AAB0-5B60568E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33550"/>
            <a:ext cx="3276600" cy="34099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3B4B8-E79C-49A2-87E7-3644C3CC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00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60D98-B2E7-4D2F-8B4A-5AB26A06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Priorização difícil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66F1D-CEE8-4CC2-ACE7-5DEC42F4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2743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 volume e a gravidade exigem critérios claros para apoiar o atendimento.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14B6D-F876-4599-9605-DA00B38C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33550"/>
            <a:ext cx="3276600" cy="34099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2A02A-E38F-4972-954F-6E1EF378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73718-F006-4458-B572-8601F143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Visão limitada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1D643-52A2-4595-808E-F474AE22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71850"/>
            <a:ext cx="2743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Sem mapa e indicadores, padrões regionais podem passar despercebidos.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F27446-505B-4D49-B7F5-E690549B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VigIA - Projeto Integrador II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8E527-D07F-4F31-98D9-EC070A33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650548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52E39C-CFA0-454A-8D7D-52627501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SOLUÇÃO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C6060-7864-4FDF-B033-10BB84D3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Uma solução simples para acompanhar o ciclo operacional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3E866-8D7A-4F29-9A97-0581A947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381250" cy="2571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8E55D-80E2-43D8-842E-4B189CD9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620AD-9FAC-4DFE-9F29-5DE4EAA8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Registrar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32966-E926-448B-8609-8E5CD57B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924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Ocorrência e localização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8B854-12C0-4B8C-94BD-270B7297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2381250" cy="2571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2EDCD-B0D7-428C-A0CF-279F79A5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47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EA1E1-3C4A-4AFA-A420-490AB593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194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Analisar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29011-8942-4286-9931-617A80E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29000"/>
            <a:ext cx="1924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Prioridade sugerida pela 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BD8B4-1BAE-4BDE-A620-BA644757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0250"/>
            <a:ext cx="2381250" cy="2571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EE9BD-DFEC-4A13-8762-41142CEF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56038-3309-48DD-B24B-5BDDDDA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194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Visualizar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140CED-194D-44AC-A748-A5D65DEF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1924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Painel, mapa e indicadores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E73BF-88F6-4B02-BE53-BAFCE59A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381250" cy="2571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C29E2-C003-472A-8E1E-F29437DF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47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0E8D0-6FBC-4AC1-BC0E-FFDBC962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194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Apoiar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866764-DF59-451A-A0F8-F1C35EB7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29000"/>
            <a:ext cx="1924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Viatura e alertas operacionais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09A94F-D40E-40D3-9B38-A7D589CD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 decisão final permanece com o operador.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834CA6-A8D2-4A21-87A7-377AAD41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VigIA - Projeto Integrador II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182E1A-9259-4407-8448-BEE17DD7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11573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6219AD-CEE1-43D4-B80F-9630DE0C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ARQUITETURA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7D7C4-A93B-4BCD-9375-5A7F7A67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 arquitetura separa interface, regras e inteligência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F0A04-997F-4B1A-8B47-700E6BF2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00200"/>
            <a:ext cx="9677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9D4F6-979D-4E32-9815-34079380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00200"/>
            <a:ext cx="133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05770-175C-4757-8578-168B0D90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90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CEA33-69C8-44E8-9B28-EF09D395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526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Interface 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E8CAB-BDC0-4155-A7B2-3E55D932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7645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Login, dashboard, ocorrências, viaturas, mapa e alertas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A0D82-382B-4256-AC90-B2E24CD3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0"/>
            <a:ext cx="9677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EDD3B-AEA5-45E8-913E-D9E12E94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0"/>
            <a:ext cx="133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A74BF-3E3F-49B9-84C5-5E3506C6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43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Laravel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47167-7C7E-44F6-8CAB-F1A35D40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Regras da aplicação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266BF-389D-47F2-A649-AAF92C78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290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Autenticação, validações, serviços e integração entre módulos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A2124-D570-461A-A6CA-8F718DA2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05300"/>
            <a:ext cx="9677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1EFAB-3FE9-4572-B108-730A9214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05300"/>
            <a:ext cx="133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44630-7E48-4036-8AB2-7CC03945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95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PostgreSQL/PostGIS + FastAPI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E1266-2779-4507-97BD-DFD37C4F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57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Dados e 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CD82B-4E6B-43BC-B93E-FA659C1B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155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Persistência geográfica e sugestão de prioridade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14F08-F419-4037-9AB2-7FDA77ED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VigIA - Projeto Integrador II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05583-F813-4580-8D25-59E45A39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2911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E76363-9491-40F5-A725-AB6D5E12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DEMONSTRAÇÃO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6DA21-B304-48E9-A577-81CADC4D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 painel resume a situação operacional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C1A13-25E2-4F3C-A8F2-45EC51C1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581900" cy="46291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c98b362fb49c9"/>
          <a:stretch xmlns:a="http://schemas.openxmlformats.org/drawingml/2006/main"/>
        </p:blipFill>
        <p:spPr>
          <a:xfrm xmlns:a="http://schemas.openxmlformats.org/drawingml/2006/main">
            <a:off x="685800" y="1538193"/>
            <a:ext cx="7429500" cy="4181663"/>
          </a:xfrm>
          <a:prstGeom xmlns:a="http://schemas.openxmlformats.org/drawingml/2006/main" prst="roundRect">
            <a:avLst>
              <a:gd name="adj" fmla="val 170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A82A7-5267-4A74-BE0E-8B65EBA2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383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Visão rápida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CABE3-81C5-4B81-8A3D-B46187E6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28850"/>
            <a:ext cx="2571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8BDB5-C589-4BAE-A952-2657B366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5F4A2-E6FE-459F-85E7-EC73FBE5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76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ocorrências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CA612-0C53-481C-A1DD-93B1CF4E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2571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ABD2C-BD41-44EA-BFD7-64E7ED16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528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5311D-DF46-44CC-B6FC-BAFA43A0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67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viaturas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50485-791C-4FE9-874C-5A966967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0050"/>
            <a:ext cx="2571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206E0-9F4E-4172-9399-C49E137A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434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D06D0-AF20-4C13-A8E3-05872A15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57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alertas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DF0CA-CA02-4BCE-8E62-F4FF99E9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VigIA - Projeto Integrador II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7B74F-102C-4358-8F0B-F691FDD2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568556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E50A1-990B-4CCE-B06B-0011AC03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DEMONSTRAÇÃO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6BF0F-C7A9-4720-9F59-4B29BB70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 ocorrência reúne contexto e uma sugestão explicável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29A34-AF7A-46B2-A545-4B5A8389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37210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f585bae7d4cf4"/>
          <a:stretch xmlns:a="http://schemas.openxmlformats.org/drawingml/2006/main"/>
        </p:blipFill>
        <p:spPr>
          <a:xfrm xmlns:a="http://schemas.openxmlformats.org/drawingml/2006/main">
            <a:off x="685800" y="1636207"/>
            <a:ext cx="5219700" cy="2937886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6648D-A97E-4386-81E4-21690991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09700"/>
            <a:ext cx="537210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6732656e74688"/>
          <a:stretch xmlns:a="http://schemas.openxmlformats.org/drawingml/2006/main"/>
        </p:blipFill>
        <p:spPr>
          <a:xfrm xmlns:a="http://schemas.openxmlformats.org/drawingml/2006/main">
            <a:off x="6286500" y="1636207"/>
            <a:ext cx="5219700" cy="2937886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21395-5809-4E49-9693-58FD5AB0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Lista operacional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C66E8-0726-4F23-9896-B43E335E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Status, prioridade e acesso aos detalhes.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D19F1-21AF-4290-92C4-80C1EF49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720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Apoio da 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C0E41-6C85-44BA-8C1D-E845DBEC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14950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Risco, confiança, modelo e explicação registrados.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BF0CE-C0FD-4BA6-8782-399F1EBE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VigIA - Projeto Integrador II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56754-0965-4F1C-84F1-4F3CB7B4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663687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713D4-8F41-46B3-B1DF-CBEC08BD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DEMONSTRAÇÃO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A7C18-2F49-4A32-8F27-7A2068C1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Mapa e alertas acrescentam contexto ao atendimento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58E3E-4BEC-40E6-A2C3-FF2A993A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3721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385cdb0c44d99"/>
          <a:stretch xmlns:a="http://schemas.openxmlformats.org/drawingml/2006/main"/>
        </p:blipFill>
        <p:spPr>
          <a:xfrm xmlns:a="http://schemas.openxmlformats.org/drawingml/2006/main">
            <a:off x="685800" y="1626682"/>
            <a:ext cx="5219700" cy="2937886"/>
          </a:xfrm>
          <a:prstGeom xmlns:a="http://schemas.openxmlformats.org/drawingml/2006/main" prst="roundRect">
            <a:avLst>
              <a:gd name="adj" fmla="val 23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CF160-E710-4A23-B807-C57068AB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09700"/>
            <a:ext cx="53721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af2c4a678400c"/>
          <a:stretch xmlns:a="http://schemas.openxmlformats.org/drawingml/2006/main"/>
        </p:blipFill>
        <p:spPr>
          <a:xfrm xmlns:a="http://schemas.openxmlformats.org/drawingml/2006/main">
            <a:off x="6286500" y="1626682"/>
            <a:ext cx="5219700" cy="2937886"/>
          </a:xfrm>
          <a:prstGeom xmlns:a="http://schemas.openxmlformats.org/drawingml/2006/main" prst="roundRect">
            <a:avLst>
              <a:gd name="adj" fmla="val 23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B683C-72B7-4618-BFC9-DFA73EBD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Mapa operacional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3EC5B-CA92-4AAD-A86C-A8F6B1EB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521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Filtros por status, prioridade, tipo, região e viatura.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DCE781-7C9E-4AB0-89CF-652C8959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Alertas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53FB1-E635-40CE-993A-03C766FC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95900"/>
            <a:ext cx="521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Regras, IA e dados simulados sinalizam situações relevantes.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6BDDF-43E9-43E0-8B6C-13ABEB45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VigIA - Projeto Integrador II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690D39-53DD-4868-8E3C-A2396006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791830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5F1927-36E0-4EB8-A417-367FCE77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KANBAN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E6430-7BFE-470A-95D0-95C97840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 MVP está pronto para a demonstração final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E1685-ADA9-44D0-90B4-CB2030C0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276600" cy="40195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8E72F-1AC0-422F-9A7D-3D8307FB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2933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191ED-E86A-4D5C-AFF1-247C9822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fazer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C4245-32E2-4820-83F6-60F2A476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8194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F03EF-16D1-44E2-B05A-03B5B58E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Gravar o vídeo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EA7A2-E350-41BE-AF47-B3B081F6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8194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764F3-539D-404D-B9D3-5C7F23D1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194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Publicar o 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D5ACC-CBE9-4350-B47B-F9C8BF05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62100"/>
            <a:ext cx="3276600" cy="40195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ADB63-02FC-4357-A2B8-66E00712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52600"/>
            <a:ext cx="2933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AF13A-C731-4596-9322-4519AFF9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478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 andamento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92ED5-36D0-4D3B-9B62-2D23444D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194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83E3B-A141-4A19-B285-232FD0F1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52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Revisão final da apresentação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ECDBE-9C22-4913-A64C-38017BE9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43225"/>
            <a:ext cx="28194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C131C-C92C-41A2-AD23-4CA34665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194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Conferência dos arquivos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C419D-0E78-4A43-A899-B290A16A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62100"/>
            <a:ext cx="3276600" cy="40195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C79A51-A3A9-4D45-9E45-1F36B7F0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52600"/>
            <a:ext cx="2933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A9AB9B-4957-4113-803F-C2C08345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478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Concluído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D948BA-45D1-4B9D-8764-A0AB0D82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28194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A869B1-8652-4EC6-96D4-67CAF27F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52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Login e autenticação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5D395F-5CE5-48AF-BCBC-A019B0EB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43225"/>
            <a:ext cx="28194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2FB6E7-14D4-4042-B02B-A61B57D3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194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Dashboard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BB1417-3B96-4C48-96F8-BD03A65F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09950"/>
            <a:ext cx="28194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DF1693-56F3-435C-84E7-34F6DBE7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Ocorrências e 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A08A03-D17F-4AF9-9F13-BE78BFDD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76675"/>
            <a:ext cx="28194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6404A3-4B90-416C-9F59-9495D109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528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Viaturas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C1B7D2-5E97-4A8F-8378-7E38E742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43400"/>
            <a:ext cx="28194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B10455-2DB4-4A49-910D-E1A43538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196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Mapa e alertas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7C0347-5B8D-4929-83F2-558BBFDB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10125"/>
            <a:ext cx="28194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14732B-EDB3-4EA0-A65C-3928AE0A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863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Testes do MVP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A86DCC-53F4-4E62-9FE1-BF1C18E0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VigIA - Projeto Integrador II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393242-74A6-40BE-B169-4061E5CA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208476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39860-55E6-46EE-B6AA-E2FC270F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4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1408C-DCC2-44C6-8B7A-1F2140EB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Um MVP integrado, demonstrável e consciente de seus limites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9098B-E4FD-4BC4-80EB-67B5529C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2554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A3F56-13E8-4F0B-B6DF-2F907AA8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577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- Dados e telas integrados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3B829-5E5A-4A28-ABD9-1B2A0C17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2554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E30E4-BB25-4A55-883B-3B83C78D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577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- Sugestão de prioridade explicável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BC236-C7A6-414A-BCC8-718CD5C1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2554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561CB-72EE-4033-8C7F-75C6A96C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9650"/>
            <a:ext cx="577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- Decisão humana preservada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F5150-55C4-452D-B929-0A69D238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81150"/>
            <a:ext cx="3238500" cy="3333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46D57-53B9-4B26-95B7-E1FF1E4D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4310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Próximos passos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E9475-B609-4271-8C25-8CAE8AD7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28900"/>
            <a:ext cx="247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- ampliar a base de dados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- evoluir o modelo de IA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- reforçar segurança e auditoria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- validar em ambiente controlado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C2924-A7F2-42EC-96C0-866993FF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11138968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2026-09-02T11:59:53.8580000Z</dcterms:created>
  <dcterms:modified xsi:type="dcterms:W3CDTF">2026-09-02T11:59:53.8580000Z</dcterms:modified>
</coreProperties>
</file>